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zaK3mAp5aztf83ZnuksmxIQYi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FK2gG-7hkz58rr37Bz_aMi-_c7KEULN8/view" TargetMode="External"/><Relationship Id="rId4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ThirdEye: Low-Cost Audio Guidance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Yellow Road Markings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>
                <a:solidFill>
                  <a:srgbClr val="888888"/>
                </a:solidFill>
              </a:rPr>
              <a:t>CS 449/549 Final </a:t>
            </a:r>
            <a:r>
              <a:rPr lang="en-US"/>
              <a:t>Presentation</a:t>
            </a:r>
            <a:endParaRPr/>
          </a:p>
          <a:p>
            <a:pPr indent="0" lvl="0" marL="0" rtl="0" algn="ctr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>
                <a:solidFill>
                  <a:srgbClr val="888888"/>
                </a:solidFill>
              </a:rPr>
              <a:t>Mehmet Altunören(</a:t>
            </a:r>
            <a:r>
              <a:rPr lang="en-US"/>
              <a:t>Analytics Lead</a:t>
            </a:r>
            <a:r>
              <a:rPr lang="en-US">
                <a:solidFill>
                  <a:srgbClr val="888888"/>
                </a:solidFill>
              </a:rPr>
              <a:t>), Ege Tan(</a:t>
            </a:r>
            <a:r>
              <a:rPr lang="en-US"/>
              <a:t>CV Engineer</a:t>
            </a:r>
            <a:r>
              <a:rPr lang="en-US">
                <a:solidFill>
                  <a:srgbClr val="888888"/>
                </a:solidFill>
              </a:rPr>
              <a:t>), Sait Kaçmaz (Back-End Dev), Eren Yıldız(Product Designer)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Pillar 1: User Requirements &amp; Context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Target Users: </a:t>
            </a:r>
            <a:r>
              <a:rPr lang="en-US"/>
              <a:t>Visually impaired pedestrians needing hands-free guidance.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Problem:</a:t>
            </a:r>
            <a:r>
              <a:rPr lang="en-US"/>
              <a:t> Outdoor environments are dynamic, noisy, and lack consistent tactile paving.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Context:</a:t>
            </a:r>
            <a:r>
              <a:rPr lang="en-US"/>
              <a:t> Sidewalks and campuses with yellow road markings.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Key Expectation: </a:t>
            </a:r>
            <a:r>
              <a:rPr lang="en-US"/>
              <a:t>Real-time alignment feedback and safety warnings ('Path Lost').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diagram&#10;&#10;AI-generated content may be incorrect." id="96" name="Google Shape;96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839" y="642629"/>
            <a:ext cx="822960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straight line&#10;&#10;AI-generated content may be incorrect." id="97" name="Google Shape;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07" y="3232977"/>
            <a:ext cx="7099919" cy="2529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straight path&#10;&#10;AI-generated content may be incorrect." id="98" name="Google Shape;9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7793" y="3429000"/>
            <a:ext cx="1947358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Pillar 2: Design Guidelines &amp; Process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HCI Principles: </a:t>
            </a:r>
            <a:r>
              <a:rPr lang="en-US"/>
              <a:t>Multimodal Interaction &amp; Norman’s Mapping.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Feedback Strategy: </a:t>
            </a:r>
            <a:r>
              <a:rPr lang="en-US"/>
              <a:t>'Zone-Based' Audio.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- Left Zone -&gt; 'Go Left' Sound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- Center Zone -&gt; Silence (Minimal Cognitive Load)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- Right Zone -&gt; 'Go Right' Sound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Design Process:</a:t>
            </a:r>
            <a:r>
              <a:rPr lang="en-US"/>
              <a:t> Low-fidelity voice storyboards -&gt; C4 System Design.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06437"/>
            <a:ext cx="9144000" cy="544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06438"/>
            <a:ext cx="9144000" cy="544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Pillar 3: Implementation (Architecture)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Hardware: </a:t>
            </a:r>
            <a:r>
              <a:rPr lang="en-US"/>
              <a:t>Raspberry Pi 3 + Camera + Audio Output.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Software Stack:</a:t>
            </a:r>
            <a:r>
              <a:rPr lang="en-US"/>
              <a:t> Python, OpenCV (Vision), Flask (Server).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System Flow (C4 Container):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1. Capture Frame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2. Detect Yellow Mask (HSV)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3. Calculate Centroid Offset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4. Trigger Audio Command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912" y="0"/>
            <a:ext cx="561817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Pillar 3: Real-Time Vision Logic</a:t>
            </a:r>
            <a:endParaRPr/>
          </a:p>
        </p:txBody>
      </p:sp>
      <p:sp>
        <p:nvSpPr>
          <p:cNvPr id="131" name="Google Shape;13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Computer Vision Logic: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  - Position-Based Tracking (Pixel Offset).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  - Intersection Detection (Dot-Density Heuristic).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Developer Tools: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  - Created a custom 'Debug Dashboard' to monitor threshold sensitivity and live tracking status.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772400" cy="4362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7506" y="3211844"/>
            <a:ext cx="6496493" cy="3646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Pillar 4: Evaluation Methodology</a:t>
            </a:r>
            <a:endParaRPr/>
          </a:p>
        </p:txBody>
      </p:sp>
      <p:sp>
        <p:nvSpPr>
          <p:cNvPr id="143" name="Google Shape;14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Study Design: </a:t>
            </a:r>
            <a:r>
              <a:rPr lang="en-US"/>
              <a:t>Within-Subject (Control vs. Experimental).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Participants:</a:t>
            </a:r>
            <a:r>
              <a:rPr lang="en-US"/>
              <a:t> N=20 (Blindfolded to simulate vision loss).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Tasks: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- T1: Path Following (Alignment)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- T2: Intersection Detection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Metrics:</a:t>
            </a:r>
            <a:r>
              <a:rPr lang="en-US"/>
              <a:t> Task Completion Time, Number of Errors, SUS Score.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/>
          <p:nvPr/>
        </p:nvSpPr>
        <p:spPr>
          <a:xfrm>
            <a:off x="3274827" y="595790"/>
            <a:ext cx="236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2" title="WhatsApp Video 2026-01-03 at 14.29.48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3606" y="175625"/>
            <a:ext cx="3203945" cy="5660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Pillar 4: Results &amp; Analysis</a:t>
            </a:r>
            <a:endParaRPr/>
          </a:p>
        </p:txBody>
      </p:sp>
      <p:sp>
        <p:nvSpPr>
          <p:cNvPr id="155" name="Google Shape;15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Faster Navigation: </a:t>
            </a:r>
            <a:r>
              <a:rPr lang="en-US"/>
              <a:t>Time reduced by ~16% (112.4s -&gt; 93.7s, p=0.004).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Increased Safety: </a:t>
            </a:r>
            <a:r>
              <a:rPr lang="en-US"/>
              <a:t>Errors dropped significantly (3.1 -&gt; 1.4 errors, p&lt;0.001).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Usability (SUS):</a:t>
            </a:r>
            <a:r>
              <a:rPr lang="en-US"/>
              <a:t> Score 81.6 (Rated 'Excellent').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>
                <a:highlight>
                  <a:srgbClr val="FFFF00"/>
                </a:highlight>
              </a:rPr>
              <a:t>Conclusion: </a:t>
            </a:r>
            <a:r>
              <a:rPr lang="en-US">
                <a:highlight>
                  <a:srgbClr val="FFFF00"/>
                </a:highlight>
              </a:rPr>
              <a:t>Audio guidance significantly improves alignment performance.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Design Motto</a:t>
            </a:r>
            <a:endParaRPr/>
          </a:p>
        </p:txBody>
      </p:sp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Summary:</a:t>
            </a:r>
            <a:r>
              <a:rPr lang="en-US"/>
              <a:t> ThirdEye successfully digitizes physical infrastructure for accessibility using low-cost hardware.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br>
              <a:rPr lang="en-US"/>
            </a:br>
            <a:r>
              <a:rPr lang="en-US" u="sng"/>
              <a:t>Design Motto:</a:t>
            </a:r>
            <a:endParaRPr/>
          </a:p>
          <a:p>
            <a:pPr indent="-342900" lvl="0" marL="34290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“Designing safer pedestrian guidance without expensive dedicated infrastructure.”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